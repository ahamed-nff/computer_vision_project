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503920" y="0"/>
            <a:ext cx="3703320" cy="6858000"/>
          </a:xfrm>
          <a:prstGeom prst="rect">
            <a:avLst/>
          </a:prstGeom>
          <a:solidFill>
            <a:srgbClr val="12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54864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01000" y="1051560"/>
            <a:ext cx="4754880" cy="4754880"/>
          </a:xfrm>
          <a:prstGeom prst="ellipse">
            <a:avLst/>
          </a:prstGeom>
          <a:solidFill>
            <a:srgbClr val="173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1737360"/>
            <a:ext cx="3383280" cy="3383280"/>
          </a:xfrm>
          <a:prstGeom prst="ellipse">
            <a:avLst/>
          </a:prstGeom>
          <a:solidFill>
            <a:srgbClr val="1939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72600" y="2423160"/>
            <a:ext cx="2011680" cy="2011680"/>
          </a:xfrm>
          <a:prstGeom prst="ellipse">
            <a:avLst/>
          </a:prstGeom>
          <a:solidFill>
            <a:srgbClr val="0D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89720" y="2788920"/>
            <a:ext cx="24688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✍︎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AIR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CANVAS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868680"/>
            <a:ext cx="365760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IMAGE PROCESSING &amp; COMPUTER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74980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Calibri"/>
              </a:rPr>
              <a:t>Touchless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14B8A6"/>
                </a:solidFill>
                <a:latin typeface="Calibri"/>
              </a:rPr>
              <a:t>Writing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70332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D3DE"/>
                </a:solidFill>
                <a:latin typeface="Calibri"/>
              </a:rPr>
              <a:t>Air-writing with real-time hand-gesture tracking,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D3DE"/>
                </a:solidFill>
                <a:latin typeface="Calibri"/>
              </a:rPr>
              <a:t>OCR handwriting recognition &amp; voice dictation.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" y="4572000"/>
            <a:ext cx="2194560" cy="4114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892040"/>
            <a:ext cx="73152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14B8A6"/>
                </a:solidFill>
                <a:latin typeface="Calibri"/>
              </a:rPr>
              <a:t>Presented by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Mohammed Farees Mohammed Rifath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0BF"/>
                </a:solidFill>
                <a:latin typeface="Calibri"/>
              </a:rPr>
              <a:t>Course Project  ·  Computer Vision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6126480"/>
            <a:ext cx="621792" cy="310896"/>
          </a:xfrm>
          <a:prstGeom prst="roundRect">
            <a:avLst>
              <a:gd name="adj" fmla="val 50000"/>
            </a:avLst>
          </a:prstGeom>
          <a:solidFill>
            <a:srgbClr val="1C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FDDE8"/>
                </a:solidFill>
                <a:latin typeface="Calibri"/>
              </a:rPr>
              <a:t>OpenCV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72768" y="6126480"/>
            <a:ext cx="909828" cy="310896"/>
          </a:xfrm>
          <a:prstGeom prst="roundRect">
            <a:avLst>
              <a:gd name="adj" fmla="val 50000"/>
            </a:avLst>
          </a:prstGeom>
          <a:solidFill>
            <a:srgbClr val="1C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FDDE8"/>
                </a:solidFill>
                <a:latin typeface="Calibri"/>
              </a:rPr>
              <a:t>MediaPipe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28900" y="6126480"/>
            <a:ext cx="525780" cy="310896"/>
          </a:xfrm>
          <a:prstGeom prst="roundRect">
            <a:avLst>
              <a:gd name="adj" fmla="val 50000"/>
            </a:avLst>
          </a:prstGeom>
          <a:solidFill>
            <a:srgbClr val="1C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FDDE8"/>
                </a:solidFill>
                <a:latin typeface="Calibri"/>
              </a:rPr>
              <a:t>NumPy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00984" y="6126480"/>
            <a:ext cx="1293876" cy="310896"/>
          </a:xfrm>
          <a:prstGeom prst="roundRect">
            <a:avLst>
              <a:gd name="adj" fmla="val 50000"/>
            </a:avLst>
          </a:prstGeom>
          <a:solidFill>
            <a:srgbClr val="1C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FDDE8"/>
                </a:solidFill>
                <a:latin typeface="Calibri"/>
              </a:rPr>
              <a:t>OpenAI GPT-4o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41164" y="6126480"/>
            <a:ext cx="1101852" cy="310896"/>
          </a:xfrm>
          <a:prstGeom prst="roundRect">
            <a:avLst>
              <a:gd name="adj" fmla="val 50000"/>
            </a:avLst>
          </a:prstGeom>
          <a:solidFill>
            <a:srgbClr val="1C32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CFDDE8"/>
                </a:solidFill>
                <a:latin typeface="Calibri"/>
              </a:rPr>
              <a:t>Python 3.11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9164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91640"/>
            <a:ext cx="128016" cy="1325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7452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929384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B2A"/>
                </a:solidFill>
                <a:latin typeface="Calibri"/>
              </a:rPr>
              <a:t>Project Problem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Why touch-free input matters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9164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91640"/>
            <a:ext cx="128016" cy="13258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30568" y="187452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A623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0" y="1929384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B2A"/>
                </a:solidFill>
                <a:latin typeface="Calibri"/>
              </a:rPr>
              <a:t>Literature Review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Existing air-writing &amp; OCR methods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3756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337560"/>
            <a:ext cx="128016" cy="1325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352044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575304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B2A"/>
                </a:solidFill>
                <a:latin typeface="Calibri"/>
              </a:rPr>
              <a:t>Data Acquisition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How input is captured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33756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337560"/>
            <a:ext cx="128016" cy="13258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30568" y="352044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A623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80" y="3575304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B2A"/>
                </a:solidFill>
                <a:latin typeface="Calibri"/>
              </a:rPr>
              <a:t>Methodology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Pipeline: tracking → canvas → OCR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98348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4983480"/>
            <a:ext cx="128016" cy="13258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516636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14B8A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5221224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B2A"/>
                </a:solidFill>
                <a:latin typeface="Calibri"/>
              </a:rPr>
              <a:t>Results &amp; Discussion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CER / WER / latency evaluation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37960" y="4983480"/>
            <a:ext cx="5257800" cy="1325880"/>
          </a:xfrm>
          <a:prstGeom prst="roundRect">
            <a:avLst>
              <a:gd name="adj" fmla="val 8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37960" y="4983480"/>
            <a:ext cx="128016" cy="13258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8" y="5166360"/>
            <a:ext cx="1371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5A623"/>
                </a:solidFill>
                <a:latin typeface="Calibri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80" y="5221224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 i="0">
                <a:solidFill>
                  <a:srgbClr val="0F1B2A"/>
                </a:solidFill>
                <a:latin typeface="Calibri"/>
              </a:rPr>
              <a:t>Novelty &amp; Conclusion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Contributions and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01 ·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Project Problem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5448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3C4A5A"/>
                </a:solidFill>
                <a:latin typeface="Calibri"/>
              </a:rPr>
              <a:t>Conventional digital writing needs a </a:t>
            </a:r>
            <a:r>
              <a:rPr sz="1600" b="1" i="0">
                <a:solidFill>
                  <a:srgbClr val="0F1B2A"/>
                </a:solidFill>
                <a:latin typeface="Calibri"/>
              </a:rPr>
              <a:t>physical touch surface</a:t>
            </a:r>
            <a:r>
              <a:rPr sz="1600" b="0" i="0">
                <a:solidFill>
                  <a:srgbClr val="3C4A5A"/>
                </a:solidFill>
                <a:latin typeface="Calibri"/>
              </a:rPr>
              <a:t> — keyboard, stylus or trackpad. That is limiting in many real settings.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128016" cy="16916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49631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🖐️  Hygiene &amp; accessibility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898648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Shared touch devices spread germs; some users cannot operate a stylus or keyboard comfortably.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233172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37960" y="2331720"/>
            <a:ext cx="128016" cy="16916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30568" y="249631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📊  Hardware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30568" y="2898648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Digital pens, smart-boards and touch panels are expensive and not always available.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9768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4297680"/>
            <a:ext cx="128016" cy="16916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46227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🎯  Natural interaction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864608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There is no intuitive, hardware-light way to write/annotate in the air during teaching or presentations.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37960" y="4297680"/>
            <a:ext cx="525780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297680"/>
            <a:ext cx="128016" cy="16916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0568" y="4462272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🔤  Hand-off to digital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864608"/>
            <a:ext cx="475488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Even when notes are captured, turning handwriting into editable, searchable text is a separate manual step.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6172200"/>
            <a:ext cx="10607040" cy="457200"/>
          </a:xfrm>
          <a:prstGeom prst="round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5840" y="6236208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Goal: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webcam-only system to write in the air with hand gestures and convert that handwriting to digital text.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01 ·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Aim &amp; Objectives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4023360" cy="4480560"/>
          </a:xfrm>
          <a:prstGeom prst="roundRect">
            <a:avLst>
              <a:gd name="adj" fmla="val 5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965960"/>
            <a:ext cx="640080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94560"/>
            <a:ext cx="3520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Project 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43200"/>
            <a:ext cx="3520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CFDDE8"/>
                </a:solidFill>
                <a:latin typeface="Calibri"/>
              </a:rPr>
              <a:t>Build a touchless writing application that lets a user </a:t>
            </a:r>
            <a:r>
              <a:rPr sz="1500" b="1" i="0">
                <a:solidFill>
                  <a:srgbClr val="14B8A6"/>
                </a:solidFill>
                <a:latin typeface="Calibri"/>
              </a:rPr>
              <a:t>draw in the air</a:t>
            </a:r>
            <a:r>
              <a:rPr sz="1500" b="0" i="0">
                <a:solidFill>
                  <a:srgbClr val="CFDDE8"/>
                </a:solidFill>
                <a:latin typeface="Calibri"/>
              </a:rPr>
              <a:t> using only a standard webcam, and </a:t>
            </a:r>
            <a:r>
              <a:rPr sz="1500" b="1" i="0">
                <a:solidFill>
                  <a:srgbClr val="FFFFFF"/>
                </a:solidFill>
                <a:latin typeface="Calibri"/>
              </a:rPr>
              <a:t>convert the handwriting into editable digital text</a:t>
            </a:r>
            <a:r>
              <a:rPr sz="1500" b="0" i="0">
                <a:solidFill>
                  <a:srgbClr val="CFDDE8"/>
                </a:solidFill>
                <a:latin typeface="Calibri"/>
              </a:rPr>
              <a:t> using computer-vision pre-processing and OCR.</a:t>
            </a:r>
          </a:p>
        </p:txBody>
      </p:sp>
      <p:sp>
        <p:nvSpPr>
          <p:cNvPr id="12" name="Oval 11"/>
          <p:cNvSpPr/>
          <p:nvPr/>
        </p:nvSpPr>
        <p:spPr>
          <a:xfrm>
            <a:off x="5074920" y="169164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41848" y="1655064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Real-time hand tracking —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Detect 21 hand landmarks from webcam and recognise finger-state gestures.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436876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41848" y="2400300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Gesture-driven canvas —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Map gestures to move / draw / erase / select / clear on a digital canvas.</a:t>
            </a:r>
          </a:p>
        </p:txBody>
      </p:sp>
      <p:sp>
        <p:nvSpPr>
          <p:cNvPr id="16" name="Oval 15"/>
          <p:cNvSpPr/>
          <p:nvPr/>
        </p:nvSpPr>
        <p:spPr>
          <a:xfrm>
            <a:off x="5074920" y="3182112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41848" y="3145536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CV pre-processing pipeline —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Clean strokes (CLAHE, thresholding, morphology, crop) to aid recognition.</a:t>
            </a:r>
          </a:p>
        </p:txBody>
      </p:sp>
      <p:sp>
        <p:nvSpPr>
          <p:cNvPr id="18" name="Oval 17"/>
          <p:cNvSpPr/>
          <p:nvPr/>
        </p:nvSpPr>
        <p:spPr>
          <a:xfrm>
            <a:off x="5074920" y="3927348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41848" y="3890772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Handwriting → text (OCR) —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Convert the rendered page into editable, savable text.</a:t>
            </a:r>
          </a:p>
        </p:txBody>
      </p:sp>
      <p:sp>
        <p:nvSpPr>
          <p:cNvPr id="20" name="Oval 19"/>
          <p:cNvSpPr/>
          <p:nvPr/>
        </p:nvSpPr>
        <p:spPr>
          <a:xfrm>
            <a:off x="5074920" y="467258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41848" y="4636008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Multimodal extras —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Voice-to-text dictation and live on-screen text overlay.</a:t>
            </a:r>
          </a:p>
        </p:txBody>
      </p:sp>
      <p:sp>
        <p:nvSpPr>
          <p:cNvPr id="22" name="Oval 21"/>
          <p:cNvSpPr/>
          <p:nvPr/>
        </p:nvSpPr>
        <p:spPr>
          <a:xfrm>
            <a:off x="5074920" y="5417820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41848" y="5381244"/>
            <a:ext cx="5943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Objective evaluation —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Measure OCR accuracy (CER / WER) and latency, with vs. without pre-processing.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02 · BACKGROUND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Literature Review — Existing Methodologies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70048" cy="416052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1691640"/>
            <a:ext cx="2670048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94560"/>
            <a:ext cx="267004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837944"/>
            <a:ext cx="23957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Sensor / glove based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0604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3C4A5A"/>
                </a:solidFill>
                <a:latin typeface="Calibri"/>
              </a:rPr>
              <a:t>Leap Motion, data-gloves, depth (Kinect) &amp; wearable IMUs track the hand in 3-D.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0624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A6E"/>
                </a:solidFill>
                <a:latin typeface="Calibri"/>
              </a:rPr>
              <a:t>✓ </a:t>
            </a:r>
            <a:r>
              <a:rPr sz="1150" b="1" i="0">
                <a:solidFill>
                  <a:srgbClr val="0F1B2A"/>
                </a:solidFill>
                <a:latin typeface="Calibri"/>
              </a:rPr>
              <a:t>High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3776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4A3A"/>
                </a:solidFill>
                <a:latin typeface="Calibri"/>
              </a:rPr>
              <a:t>✗ </a:t>
            </a:r>
            <a:r>
              <a:rPr sz="1150" b="0" i="0">
                <a:solidFill>
                  <a:srgbClr val="3C4A5A"/>
                </a:solidFill>
                <a:latin typeface="Calibri"/>
              </a:rPr>
              <a:t>Extra hardware, cost, not webcam-friendly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691640"/>
            <a:ext cx="2670048" cy="416052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337560" y="1691640"/>
            <a:ext cx="2670048" cy="7772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37560" y="2194560"/>
            <a:ext cx="2670048" cy="2926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1837944"/>
            <a:ext cx="23957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Color-marker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60604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3C4A5A"/>
                </a:solidFill>
                <a:latin typeface="Calibri"/>
              </a:rPr>
              <a:t>Classic OpenCV air-canvas: track a colored cap/fingertip via HSV thresholding.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420624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A6E"/>
                </a:solidFill>
                <a:latin typeface="Calibri"/>
              </a:rPr>
              <a:t>✓ </a:t>
            </a:r>
            <a:r>
              <a:rPr sz="1150" b="1" i="0">
                <a:solidFill>
                  <a:srgbClr val="0F1B2A"/>
                </a:solidFill>
                <a:latin typeface="Calibri"/>
              </a:rPr>
              <a:t>Simple, real-time, cheap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493776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4A3A"/>
                </a:solidFill>
                <a:latin typeface="Calibri"/>
              </a:rPr>
              <a:t>✗ </a:t>
            </a:r>
            <a:r>
              <a:rPr sz="1150" b="0" i="0">
                <a:solidFill>
                  <a:srgbClr val="3C4A5A"/>
                </a:solidFill>
                <a:latin typeface="Calibri"/>
              </a:rPr>
              <a:t>Needs a colored marker; fragile to lighting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1691640"/>
            <a:ext cx="2670048" cy="416052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0" y="1691640"/>
            <a:ext cx="2670048" cy="7772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80" y="2194560"/>
            <a:ext cx="2670048" cy="2926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91072" y="1837944"/>
            <a:ext cx="23957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Deep-learning landmarks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60604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3C4A5A"/>
                </a:solidFill>
                <a:latin typeface="Calibri"/>
              </a:rPr>
              <a:t>CNN hand-pose estimators — MediaPipe Hands, OpenPose — give 21 keypoints from RGB.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420624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A6E"/>
                </a:solidFill>
                <a:latin typeface="Calibri"/>
              </a:rPr>
              <a:t>✓ </a:t>
            </a:r>
            <a:r>
              <a:rPr sz="1150" b="1" i="0">
                <a:solidFill>
                  <a:srgbClr val="0F1B2A"/>
                </a:solidFill>
                <a:latin typeface="Calibri"/>
              </a:rPr>
              <a:t>Marker-free, robust, fast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93776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4A3A"/>
                </a:solidFill>
                <a:latin typeface="Calibri"/>
              </a:rPr>
              <a:t>✗ </a:t>
            </a:r>
            <a:r>
              <a:rPr sz="1150" b="0" i="0">
                <a:solidFill>
                  <a:srgbClr val="3C4A5A"/>
                </a:solidFill>
                <a:latin typeface="Calibri"/>
              </a:rPr>
              <a:t>Needs a trained model / library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15400" y="1691640"/>
            <a:ext cx="2670048" cy="416052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15400" y="1691640"/>
            <a:ext cx="2670048" cy="7772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915400" y="2194560"/>
            <a:ext cx="2670048" cy="2926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79992" y="1837944"/>
            <a:ext cx="239572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OCR / HTR engines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2606040"/>
            <a:ext cx="234086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180" b="0" i="0">
                <a:solidFill>
                  <a:srgbClr val="3C4A5A"/>
                </a:solidFill>
                <a:latin typeface="Calibri"/>
              </a:rPr>
              <a:t>Tesseract (classical) and CNN-RNN / vision-LLM models read handwriting into text.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80" y="420624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D7A6E"/>
                </a:solidFill>
                <a:latin typeface="Calibri"/>
              </a:rPr>
              <a:t>✓ </a:t>
            </a:r>
            <a:r>
              <a:rPr sz="1150" b="1" i="0">
                <a:solidFill>
                  <a:srgbClr val="0F1B2A"/>
                </a:solidFill>
                <a:latin typeface="Calibri"/>
              </a:rPr>
              <a:t>Mature, off-the-shelf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80" y="4937760"/>
            <a:ext cx="234086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04A3A"/>
                </a:solidFill>
                <a:latin typeface="Calibri"/>
              </a:rPr>
              <a:t>✗ </a:t>
            </a:r>
            <a:r>
              <a:rPr sz="1150" b="0" i="0">
                <a:solidFill>
                  <a:srgbClr val="3C4A5A"/>
                </a:solidFill>
                <a:latin typeface="Calibri"/>
              </a:rPr>
              <a:t>Tesseract weak on free handwriting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60350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Our positioning:  </a:t>
            </a:r>
            <a:r>
              <a:rPr sz="1350" b="0" i="0">
                <a:solidFill>
                  <a:srgbClr val="3C4A5A"/>
                </a:solidFill>
                <a:latin typeface="Calibri"/>
              </a:rPr>
              <a:t>combine marker-free DL landmark tracking (MediaPipe) for input with a classical CV pre-processing pipeline + a vision-LLM OCR — webcam-only, no special hardware.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03 · 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Data Acquisition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F1B2A"/>
                </a:solidFill>
                <a:latin typeface="Calibri"/>
              </a:rPr>
              <a:t>How input data enters the system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965960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" y="2386584"/>
            <a:ext cx="36576" cy="384048"/>
          </a:xfrm>
          <a:prstGeom prst="rect">
            <a:avLst/>
          </a:prstGeom>
          <a:solidFill>
            <a:srgbClr val="D7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947672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Webcam stream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Live RGB frames, 1280×720, captured with OpenCV (cv2.VideoCapture, index 0).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2770632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69264" y="3191256"/>
            <a:ext cx="36576" cy="384048"/>
          </a:xfrm>
          <a:prstGeom prst="rect">
            <a:avLst/>
          </a:prstGeom>
          <a:solidFill>
            <a:srgbClr val="D7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2752344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Hand landmarks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MediaPipe Hands extracts 21 (x, y, z) keypoints per frame — single hand.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" y="3575304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" y="3995928"/>
            <a:ext cx="36576" cy="384048"/>
          </a:xfrm>
          <a:prstGeom prst="rect">
            <a:avLst/>
          </a:prstGeom>
          <a:solidFill>
            <a:srgbClr val="D7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557016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Gesture signal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Finger up/down states → discrete gesture, stabilised over 3 frames.</a:t>
            </a:r>
          </a:p>
        </p:txBody>
      </p:sp>
      <p:sp>
        <p:nvSpPr>
          <p:cNvPr id="18" name="Oval 17"/>
          <p:cNvSpPr/>
          <p:nvPr/>
        </p:nvSpPr>
        <p:spPr>
          <a:xfrm>
            <a:off x="777240" y="4379976"/>
            <a:ext cx="420624" cy="420624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9264" y="4800600"/>
            <a:ext cx="36576" cy="384048"/>
          </a:xfrm>
          <a:prstGeom prst="rect">
            <a:avLst/>
          </a:prstGeom>
          <a:solidFill>
            <a:srgbClr val="D7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0" y="4361688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Canvas image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Cursor trail rendered to a 1280×720 NumPy canvas — the 'page' data.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184648"/>
            <a:ext cx="420624" cy="420624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b="1" sz="15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5166360"/>
            <a:ext cx="48463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0F1B2A"/>
                </a:solidFill>
                <a:latin typeface="Calibri"/>
              </a:rPr>
              <a:t>Voice &amp; evaluation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Microphone audio (voice mode) + a small labelled image/text set for OCR eval.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0" y="1508760"/>
            <a:ext cx="4572000" cy="4663440"/>
          </a:xfrm>
          <a:prstGeom prst="roundRect">
            <a:avLst>
              <a:gd name="adj" fmla="val 5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78040" y="1783080"/>
            <a:ext cx="3931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Acquisition Specs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228600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Sensor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9640" y="228600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Standard laptop / USB webcam — no depth, no glove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8346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Resolution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49640" y="28346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1280 × 720 frames; mirrored for natural drawing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338328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Tracking 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49640" y="338328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MediaPipe Hands (legacy Solutions API)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393192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Landmarks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393192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21 per hand · used to derive 6 gestures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48056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Canvas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9640" y="448056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NumPy array, multi-page, 8 colors + eraser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502920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Audio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49640" y="502920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Mic → Google Speech (voice dictation mode)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40" y="5577840"/>
            <a:ext cx="1417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Eval 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5577840"/>
            <a:ext cx="2697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CFDDE8"/>
                </a:solidFill>
                <a:latin typeface="Calibri"/>
              </a:rPr>
              <a:t>5–10 saved page images + exact ground-truth .txt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System Architecture — End-to-End Pipeline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5731" y="2148840"/>
            <a:ext cx="1627632" cy="1417320"/>
          </a:xfrm>
          <a:prstGeom prst="roundRect">
            <a:avLst>
              <a:gd name="adj" fmla="val 9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7171" y="2331720"/>
            <a:ext cx="1444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Webcam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171" y="2990088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RGB capture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(OpenCV)</a:t>
            </a:r>
          </a:p>
        </p:txBody>
      </p:sp>
      <p:sp>
        <p:nvSpPr>
          <p:cNvPr id="11" name="Chevron 10"/>
          <p:cNvSpPr/>
          <p:nvPr/>
        </p:nvSpPr>
        <p:spPr>
          <a:xfrm>
            <a:off x="2241651" y="2651760"/>
            <a:ext cx="219456" cy="411480"/>
          </a:xfrm>
          <a:prstGeom prst="chevron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70251" y="2148840"/>
            <a:ext cx="1627632" cy="1417320"/>
          </a:xfrm>
          <a:prstGeom prst="roundRect">
            <a:avLst>
              <a:gd name="adj" fmla="val 9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1691" y="2331720"/>
            <a:ext cx="1444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Hand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1691" y="2990088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21 landmarks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(MediaPipe)</a:t>
            </a:r>
          </a:p>
        </p:txBody>
      </p:sp>
      <p:sp>
        <p:nvSpPr>
          <p:cNvPr id="15" name="Chevron 14"/>
          <p:cNvSpPr/>
          <p:nvPr/>
        </p:nvSpPr>
        <p:spPr>
          <a:xfrm>
            <a:off x="4116171" y="2651760"/>
            <a:ext cx="219456" cy="411480"/>
          </a:xfrm>
          <a:prstGeom prst="chevron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4771" y="2148840"/>
            <a:ext cx="1627632" cy="1417320"/>
          </a:xfrm>
          <a:prstGeom prst="roundRect">
            <a:avLst>
              <a:gd name="adj" fmla="val 9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6211" y="2331720"/>
            <a:ext cx="1444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Gesture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6211" y="2990088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Finger states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→ action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5990691" y="2651760"/>
            <a:ext cx="219456" cy="411480"/>
          </a:xfrm>
          <a:prstGeom prst="chevron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9291" y="2148840"/>
            <a:ext cx="1627632" cy="1417320"/>
          </a:xfrm>
          <a:prstGeom prst="roundRect">
            <a:avLst>
              <a:gd name="adj" fmla="val 9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10731" y="2331720"/>
            <a:ext cx="1444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Digital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Canvas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0731" y="2990088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NumPy page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render</a:t>
            </a:r>
          </a:p>
        </p:txBody>
      </p:sp>
      <p:sp>
        <p:nvSpPr>
          <p:cNvPr id="23" name="Chevron 22"/>
          <p:cNvSpPr/>
          <p:nvPr/>
        </p:nvSpPr>
        <p:spPr>
          <a:xfrm>
            <a:off x="7865211" y="2651760"/>
            <a:ext cx="219456" cy="411480"/>
          </a:xfrm>
          <a:prstGeom prst="chevron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3811" y="2148840"/>
            <a:ext cx="1627632" cy="1417320"/>
          </a:xfrm>
          <a:prstGeom prst="roundRect">
            <a:avLst>
              <a:gd name="adj" fmla="val 9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5251" y="2331720"/>
            <a:ext cx="1444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CV Pre-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5251" y="2990088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CLAHE · thresh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morph · crop</a:t>
            </a:r>
          </a:p>
        </p:txBody>
      </p:sp>
      <p:sp>
        <p:nvSpPr>
          <p:cNvPr id="27" name="Chevron 26"/>
          <p:cNvSpPr/>
          <p:nvPr/>
        </p:nvSpPr>
        <p:spPr>
          <a:xfrm>
            <a:off x="9739731" y="2651760"/>
            <a:ext cx="219456" cy="411480"/>
          </a:xfrm>
          <a:prstGeom prst="chevron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68331" y="2148840"/>
            <a:ext cx="1627632" cy="1417320"/>
          </a:xfrm>
          <a:prstGeom prst="roundRect">
            <a:avLst>
              <a:gd name="adj" fmla="val 9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9771" y="2331720"/>
            <a:ext cx="14447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OCR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Engine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9771" y="2990088"/>
            <a:ext cx="1444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GPT-4o-mini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EAF7F0"/>
                </a:solidFill>
                <a:latin typeface="Calibri"/>
              </a:rPr>
              <a:t>→ 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7240" y="4114800"/>
            <a:ext cx="10607040" cy="18288"/>
          </a:xfrm>
          <a:prstGeom prst="rect">
            <a:avLst/>
          </a:prstGeom>
          <a:solidFill>
            <a:srgbClr val="D7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280160" y="4434840"/>
            <a:ext cx="4846320" cy="14173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280160" y="4434840"/>
            <a:ext cx="128016" cy="141732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554480" y="4572000"/>
            <a:ext cx="44348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A"/>
                </a:solidFill>
                <a:latin typeface="Calibri"/>
              </a:rPr>
              <a:t>🎤  Voice path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Mic → Google Speech Recognition → text rendered straight onto the canvas (background thread, non-blocking).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55080" y="4434840"/>
            <a:ext cx="5029200" cy="1417320"/>
          </a:xfrm>
          <a:prstGeom prst="roundRect">
            <a:avLst>
              <a:gd name="adj" fmla="val 6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4434840"/>
            <a:ext cx="128016" cy="141732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4572000"/>
            <a:ext cx="4617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0F1B2A"/>
                </a:solidFill>
                <a:latin typeface="Calibri"/>
              </a:rPr>
              <a:t>🔴  Live text overlay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Same OCR, but the recognised text is drawn back as a semi-transparent overlay for instant verification — no file saved.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Hand-Gesture Recognition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C4A5A"/>
                </a:solidFill>
                <a:latin typeface="Calibri"/>
              </a:rPr>
              <a:t>Each fingertip is compared to its lower joint to decide </a:t>
            </a:r>
            <a:r>
              <a:rPr sz="1400" b="1" i="0">
                <a:solidFill>
                  <a:srgbClr val="0F1B2A"/>
                </a:solidFill>
                <a:latin typeface="Calibri"/>
              </a:rPr>
              <a:t>up / down</a:t>
            </a:r>
            <a:r>
              <a:rPr sz="1400" b="0" i="0">
                <a:solidFill>
                  <a:srgbClr val="3C4A5A"/>
                </a:solidFill>
                <a:latin typeface="Calibri"/>
              </a:rPr>
              <a:t>; the raised-finger pattern maps to one gesture, stabilised over 3 frames to stop flicker.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240280"/>
            <a:ext cx="3401568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468880"/>
            <a:ext cx="3401568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313432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✦ Move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80720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B2A"/>
                </a:solidFill>
                <a:latin typeface="Calibri"/>
              </a:rPr>
              <a:t>Fingers: </a:t>
            </a:r>
            <a:r>
              <a:rPr sz="1200" b="0" i="0">
                <a:solidFill>
                  <a:srgbClr val="3C4A5A"/>
                </a:solidFill>
                <a:latin typeface="Calibri"/>
              </a:rPr>
              <a:t>Index only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Cursor follows fingertip, no 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9976" y="2240280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79976" y="2240280"/>
            <a:ext cx="3401568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9976" y="2468880"/>
            <a:ext cx="3401568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81144" y="2313432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✎ Draw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280720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B2A"/>
                </a:solidFill>
                <a:latin typeface="Calibri"/>
              </a:rPr>
              <a:t>Fingers: </a:t>
            </a:r>
            <a:r>
              <a:rPr sz="1200" b="0" i="0">
                <a:solidFill>
                  <a:srgbClr val="3C4A5A"/>
                </a:solidFill>
                <a:latin typeface="Calibri"/>
              </a:rPr>
              <a:t>Index + Thumb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Continuous stroke on the canvas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2240280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82712" y="2240280"/>
            <a:ext cx="3401568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82712" y="2468880"/>
            <a:ext cx="3401568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313432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⌫ Erase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280720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B2A"/>
                </a:solidFill>
                <a:latin typeface="Calibri"/>
              </a:rPr>
              <a:t>Fingers: </a:t>
            </a:r>
            <a:r>
              <a:rPr sz="1200" b="0" i="0">
                <a:solidFill>
                  <a:srgbClr val="3C4A5A"/>
                </a:solidFill>
                <a:latin typeface="Calibri"/>
              </a:rPr>
              <a:t>Index + Middle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Removes strokes under cursor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3794760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77240" y="3794760"/>
            <a:ext cx="3401568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023360"/>
            <a:ext cx="3401568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867912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◧ Select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36168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B2A"/>
                </a:solidFill>
                <a:latin typeface="Calibri"/>
              </a:rPr>
              <a:t>Fingers: </a:t>
            </a:r>
            <a:r>
              <a:rPr sz="1200" b="0" i="0">
                <a:solidFill>
                  <a:srgbClr val="3C4A5A"/>
                </a:solidFill>
                <a:latin typeface="Calibri"/>
              </a:rPr>
              <a:t>Index + Pinky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Pick color from palette /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79976" y="3794760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79976" y="3794760"/>
            <a:ext cx="3401568" cy="4572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79976" y="4023360"/>
            <a:ext cx="3401568" cy="2286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81144" y="3867912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✺ Clear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81144" y="436168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B2A"/>
                </a:solidFill>
                <a:latin typeface="Calibri"/>
              </a:rPr>
              <a:t>Fingers: </a:t>
            </a:r>
            <a:r>
              <a:rPr sz="1200" b="0" i="0">
                <a:solidFill>
                  <a:srgbClr val="3C4A5A"/>
                </a:solidFill>
                <a:latin typeface="Calibri"/>
              </a:rPr>
              <a:t>All five fingers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Clears the current page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82712" y="3794760"/>
            <a:ext cx="3401568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982712" y="3794760"/>
            <a:ext cx="3401568" cy="4572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982712" y="4023360"/>
            <a:ext cx="3401568" cy="2286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83880" y="3867912"/>
            <a:ext cx="30358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• Idle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36168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F1B2A"/>
                </a:solidFill>
                <a:latin typeface="Calibri"/>
              </a:rPr>
              <a:t>Fingers: </a:t>
            </a:r>
            <a:r>
              <a:rPr sz="1200" b="0" i="0">
                <a:solidFill>
                  <a:srgbClr val="3C4A5A"/>
                </a:solidFill>
                <a:latin typeface="Calibri"/>
              </a:rPr>
              <a:t>None / other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No action taken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14B8A6"/>
                </a:solidFill>
                <a:latin typeface="Calibri"/>
              </a:rPr>
              <a:t>Why classical, not a classifier:  </a:t>
            </a:r>
            <a:r>
              <a:rPr sz="1300" b="0" i="0">
                <a:solidFill>
                  <a:srgbClr val="3C4A5A"/>
                </a:solidFill>
                <a:latin typeface="Calibri"/>
              </a:rPr>
              <a:t>geometric finger-state logic is interpretable, training-free and runs in real time on CPU.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OCR Pre-processing Pipeline (Core CV)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C4A5A"/>
                </a:solidFill>
                <a:latin typeface="Calibri"/>
              </a:rPr>
              <a:t>A configurable classical pipeline cleans the rendered page before OCR — every stage can be toggled for A/B evaluation.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1488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128016" cy="13716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31343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1 · Grayscale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2715768"/>
            <a:ext cx="2898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Drop colour channels — reduces colour artefacts, single-channel for later stages.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9976" y="21488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79976" y="2148840"/>
            <a:ext cx="128016" cy="13716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72584" y="231343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2 · CLAHE contrast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715768"/>
            <a:ext cx="2898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Local (adaptive) histogram equalisation — robust to uneven canvas lighting.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82712" y="21488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82712" y="2148840"/>
            <a:ext cx="128016" cy="13716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231343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3 · Adaptive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715768"/>
            <a:ext cx="2898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Gaussian adaptive binarisation (blockSize 31, C 10) → clean binary strokes.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37490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77240" y="3749040"/>
            <a:ext cx="128016" cy="13716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" y="391363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4 · Morphology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315968"/>
            <a:ext cx="2898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Close reconnects broken strokes; open removes isolated speckle noise.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79976" y="37490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379976" y="3749040"/>
            <a:ext cx="128016" cy="137160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584" y="391363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5 · Crop to 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2584" y="4315968"/>
            <a:ext cx="2898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Bounding box around non-zero pixels so OCR focuses only on written content.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82712" y="3749040"/>
            <a:ext cx="3401568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82712" y="3749040"/>
            <a:ext cx="128016" cy="137160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75320" y="3913632"/>
            <a:ext cx="294436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6 · Invert 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4315968"/>
            <a:ext cx="289864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Return to natural black-ink-on-white page — OCR-friendly output.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6080760"/>
            <a:ext cx="10607040" cy="502920"/>
          </a:xfrm>
          <a:prstGeom prst="round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6153912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B8A6"/>
                </a:solidFill>
                <a:latin typeface="Calibri"/>
              </a:rPr>
              <a:t>grayscale  →  CLAHE  →  adaptive threshold  →  morphology (close+open)  →  crop  →  invert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04 · 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Recognition &amp; Implementation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45920"/>
            <a:ext cx="128016" cy="214884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81051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🔤  Handwriting → Text (OCR)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212848"/>
            <a:ext cx="4709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The cleaned page is base64-encoded and sent to OpenAI GPT-4o-mini (vision). The model returns editable text, saved to a timestamped .txt file or shown live. A vision-LLM is used because Tesseract struggles with free-form air-handwriting.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77639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977639"/>
            <a:ext cx="128016" cy="214884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4142231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1" i="0">
                <a:solidFill>
                  <a:srgbClr val="0F1B2A"/>
                </a:solidFill>
                <a:latin typeface="Calibri"/>
              </a:rPr>
              <a:t>🎤  Voice-to-Text Dictation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4544567"/>
            <a:ext cx="4709160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3C4A5A"/>
                </a:solidFill>
                <a:latin typeface="Calibri"/>
              </a:rPr>
              <a:t>Microphone audio is transcribed via Google Speech Recognition on a background thread (UI never freezes) and the recognised text is word-wrapped and rendered onto the canvas — a fast alternative to writing long passages.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164592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19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0F1B2A"/>
                </a:solidFill>
                <a:latin typeface="Calibri"/>
              </a:rPr>
              <a:t>Implementation Stack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0" y="24414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12280" y="23774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Language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3774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Python 3.11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28986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28346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Vision /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59" y="28346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OpenCV (opencv-contrib 4.11) — capture, canvas, HUD</a:t>
            </a:r>
          </a:p>
        </p:txBody>
      </p:sp>
      <p:sp>
        <p:nvSpPr>
          <p:cNvPr id="24" name="Oval 23"/>
          <p:cNvSpPr/>
          <p:nvPr/>
        </p:nvSpPr>
        <p:spPr>
          <a:xfrm>
            <a:off x="6583680" y="33558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12280" y="3291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Hand tracking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59" y="32918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MediaPipe 0.10.21 — Solutions Hands API</a:t>
            </a:r>
          </a:p>
        </p:txBody>
      </p:sp>
      <p:sp>
        <p:nvSpPr>
          <p:cNvPr id="27" name="Oval 26"/>
          <p:cNvSpPr/>
          <p:nvPr/>
        </p:nvSpPr>
        <p:spPr>
          <a:xfrm>
            <a:off x="6583680" y="38130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37490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Numerics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37490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NumPy 1.26 — canvas array maths</a:t>
            </a:r>
          </a:p>
        </p:txBody>
      </p:sp>
      <p:sp>
        <p:nvSpPr>
          <p:cNvPr id="30" name="Oval 29"/>
          <p:cNvSpPr/>
          <p:nvPr/>
        </p:nvSpPr>
        <p:spPr>
          <a:xfrm>
            <a:off x="6583680" y="42702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42062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OCR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42062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OpenAI GPT-4o-mini (vision) via openai SDK</a:t>
            </a:r>
          </a:p>
        </p:txBody>
      </p:sp>
      <p:sp>
        <p:nvSpPr>
          <p:cNvPr id="33" name="Oval 32"/>
          <p:cNvSpPr/>
          <p:nvPr/>
        </p:nvSpPr>
        <p:spPr>
          <a:xfrm>
            <a:off x="6583680" y="47274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46634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Voice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46634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SpeechRecognition + PyAudio (Google API)</a:t>
            </a:r>
          </a:p>
        </p:txBody>
      </p:sp>
      <p:sp>
        <p:nvSpPr>
          <p:cNvPr id="36" name="Oval 35"/>
          <p:cNvSpPr/>
          <p:nvPr/>
        </p:nvSpPr>
        <p:spPr>
          <a:xfrm>
            <a:off x="6583680" y="51846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51206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Config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59" y="51206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python-dotenv (.env API key, lazy client)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5641848"/>
            <a:ext cx="91440" cy="91440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12280" y="5577840"/>
            <a:ext cx="1463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0D7A6E"/>
                </a:solidFill>
                <a:latin typeface="Calibri"/>
              </a:rPr>
              <a:t>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59" y="5577840"/>
            <a:ext cx="3063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3C4A5A"/>
                </a:solidFill>
                <a:latin typeface="Calibri"/>
              </a:rPr>
              <a:t>Custom CER/WER + latency harness (no ext. libs)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05 ·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Results &amp; Discussion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10607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3C4A5A"/>
                </a:solidFill>
                <a:latin typeface="Calibri"/>
              </a:rPr>
              <a:t>OCR accuracy measured with </a:t>
            </a:r>
            <a:r>
              <a:rPr sz="1400" b="1" i="0">
                <a:solidFill>
                  <a:srgbClr val="0F1B2A"/>
                </a:solidFill>
                <a:latin typeface="Calibri"/>
              </a:rPr>
              <a:t>Character &amp; Word Error Rate</a:t>
            </a:r>
            <a:r>
              <a:rPr sz="1400" b="0" i="0">
                <a:solidFill>
                  <a:srgbClr val="3C4A5A"/>
                </a:solidFill>
                <a:latin typeface="Calibri"/>
              </a:rPr>
              <a:t> and latency — A/B: with vs. without the CV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057400"/>
            <a:ext cx="2542032" cy="1554480"/>
          </a:xfrm>
          <a:prstGeom prst="roundRect">
            <a:avLst>
              <a:gd name="adj" fmla="val 7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057400"/>
            <a:ext cx="2542032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22199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FDDE8"/>
                </a:solidFill>
                <a:latin typeface="Calibri"/>
              </a:rPr>
              <a:t>Mean 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60320"/>
            <a:ext cx="2176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4B8A6"/>
                </a:solidFill>
                <a:latin typeface="Calibri"/>
              </a:rPr>
              <a:t>≤ 0.15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10896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B8A6"/>
                </a:solidFill>
                <a:latin typeface="Calibri"/>
              </a:rPr>
              <a:t>↓ lower better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FB0BF"/>
                </a:solidFill>
                <a:latin typeface="Calibri"/>
              </a:rPr>
              <a:t>with pre-processing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83864" y="2057400"/>
            <a:ext cx="2542032" cy="1554480"/>
          </a:xfrm>
          <a:prstGeom prst="roundRect">
            <a:avLst>
              <a:gd name="adj" fmla="val 7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83864" y="2057400"/>
            <a:ext cx="2542032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85032" y="222199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FDDE8"/>
                </a:solidFill>
                <a:latin typeface="Calibri"/>
              </a:rPr>
              <a:t>Mean 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560320"/>
            <a:ext cx="2176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5A623"/>
                </a:solidFill>
                <a:latin typeface="Calibri"/>
              </a:rPr>
              <a:t>≤ 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2" y="310896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B8A6"/>
                </a:solidFill>
                <a:latin typeface="Calibri"/>
              </a:rPr>
              <a:t>↓ lower better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FB0BF"/>
                </a:solidFill>
                <a:latin typeface="Calibri"/>
              </a:rPr>
              <a:t>with pre-processing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2542032" cy="1554480"/>
          </a:xfrm>
          <a:prstGeom prst="roundRect">
            <a:avLst>
              <a:gd name="adj" fmla="val 7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2542032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91656" y="222199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FDDE8"/>
                </a:solidFill>
                <a:latin typeface="Calibri"/>
              </a:rPr>
              <a:t>Latency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656" y="2560320"/>
            <a:ext cx="2176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4B8A6"/>
                </a:solidFill>
                <a:latin typeface="Calibri"/>
              </a:rPr>
              <a:t>≈ 3–5 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10896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B8A6"/>
                </a:solidFill>
                <a:latin typeface="Calibri"/>
              </a:rPr>
              <a:t>per OCR call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FB0BF"/>
                </a:solidFill>
                <a:latin typeface="Calibri"/>
              </a:rPr>
              <a:t>incl. network round-trip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7112" y="2057400"/>
            <a:ext cx="2542032" cy="1554480"/>
          </a:xfrm>
          <a:prstGeom prst="roundRect">
            <a:avLst>
              <a:gd name="adj" fmla="val 7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897112" y="2057400"/>
            <a:ext cx="2542032" cy="64008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221992"/>
            <a:ext cx="2176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CFDDE8"/>
                </a:solidFill>
                <a:latin typeface="Calibri"/>
              </a:rPr>
              <a:t>Pre-proc gain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60320"/>
            <a:ext cx="217627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5A623"/>
                </a:solidFill>
                <a:latin typeface="Calibri"/>
              </a:rPr>
              <a:t>CER↓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108960"/>
            <a:ext cx="21762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4B8A6"/>
                </a:solidFill>
                <a:latin typeface="Calibri"/>
              </a:rPr>
              <a:t>CER reduction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9FB0BF"/>
                </a:solidFill>
                <a:latin typeface="Calibri"/>
              </a:rPr>
              <a:t>vs. raw image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977639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B2A"/>
                </a:solidFill>
                <a:latin typeface="Calibri"/>
              </a:rPr>
              <a:t>What worked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389120"/>
            <a:ext cx="507492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 b="1">
                <a:solidFill>
                  <a:srgbClr val="0F1B2A"/>
                </a:solidFill>
                <a:latin typeface="Calibri"/>
              </a:rPr>
              <a:t>Pre-processing helps: </a:t>
            </a:r>
            <a:r>
              <a:rPr sz="1300">
                <a:solidFill>
                  <a:srgbClr val="3C4A5A"/>
                </a:solidFill>
                <a:latin typeface="Calibri"/>
              </a:rPr>
              <a:t>cropping + contrast cut CER vs. raw frames.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 b="1">
                <a:solidFill>
                  <a:srgbClr val="0F1B2A"/>
                </a:solidFill>
                <a:latin typeface="Calibri"/>
              </a:rPr>
              <a:t>Real-time tracking: </a:t>
            </a:r>
            <a:r>
              <a:rPr sz="1300">
                <a:solidFill>
                  <a:srgbClr val="3C4A5A"/>
                </a:solidFill>
                <a:latin typeface="Calibri"/>
              </a:rPr>
              <a:t>stable gestures on CPU, no GPU needed.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14B8A6"/>
                </a:solidFill>
                <a:latin typeface="Calibri"/>
              </a:rPr>
              <a:t>▸  </a:t>
            </a:r>
            <a:r>
              <a:rPr sz="1300" b="1">
                <a:solidFill>
                  <a:srgbClr val="0F1B2A"/>
                </a:solidFill>
                <a:latin typeface="Calibri"/>
              </a:rPr>
              <a:t>Vision-LLM OCR: </a:t>
            </a:r>
            <a:r>
              <a:rPr sz="1300">
                <a:solidFill>
                  <a:srgbClr val="3C4A5A"/>
                </a:solidFill>
                <a:latin typeface="Calibri"/>
              </a:rPr>
              <a:t>reads free handwriting far better than Tesseract.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977639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0F1B2A"/>
                </a:solidFill>
                <a:latin typeface="Calibri"/>
              </a:rPr>
              <a:t>Limitations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4389120"/>
            <a:ext cx="512064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5A623"/>
                </a:solidFill>
                <a:latin typeface="Calibri"/>
              </a:rPr>
              <a:t>▸  </a:t>
            </a:r>
            <a:r>
              <a:rPr sz="1300" b="1">
                <a:solidFill>
                  <a:srgbClr val="0F1B2A"/>
                </a:solidFill>
                <a:latin typeface="Calibri"/>
              </a:rPr>
              <a:t>Lighting sensitivity: </a:t>
            </a:r>
            <a:r>
              <a:rPr sz="1300">
                <a:solidFill>
                  <a:srgbClr val="3C4A5A"/>
                </a:solidFill>
                <a:latin typeface="Calibri"/>
              </a:rPr>
              <a:t>very poor light degrades landmark tracking.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5A623"/>
                </a:solidFill>
                <a:latin typeface="Calibri"/>
              </a:rPr>
              <a:t>▸  </a:t>
            </a:r>
            <a:r>
              <a:rPr sz="1300" b="1">
                <a:solidFill>
                  <a:srgbClr val="0F1B2A"/>
                </a:solidFill>
                <a:latin typeface="Calibri"/>
              </a:rPr>
              <a:t>Network dependence: </a:t>
            </a:r>
            <a:r>
              <a:rPr sz="1300">
                <a:solidFill>
                  <a:srgbClr val="3C4A5A"/>
                </a:solidFill>
                <a:latin typeface="Calibri"/>
              </a:rPr>
              <a:t>OCR &amp; voice need internet + API key.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00" b="1">
                <a:solidFill>
                  <a:srgbClr val="F5A623"/>
                </a:solidFill>
                <a:latin typeface="Calibri"/>
              </a:rPr>
              <a:t>▸  </a:t>
            </a:r>
            <a:r>
              <a:rPr sz="1300" b="1">
                <a:solidFill>
                  <a:srgbClr val="0F1B2A"/>
                </a:solidFill>
                <a:latin typeface="Calibri"/>
              </a:rPr>
              <a:t>Single hand: </a:t>
            </a:r>
            <a:r>
              <a:rPr sz="1300">
                <a:solidFill>
                  <a:srgbClr val="3C4A5A"/>
                </a:solidFill>
                <a:latin typeface="Calibri"/>
              </a:rPr>
              <a:t>one hand tracked; messy writing lowers accuracy.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6355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5A623"/>
                </a:solidFill>
                <a:latin typeface="Calibri"/>
              </a:rPr>
              <a:t>Note: </a:t>
            </a:r>
            <a:r>
              <a:rPr sz="1150" b="1" i="1">
                <a:solidFill>
                  <a:srgbClr val="3C4A5A"/>
                </a:solidFill>
                <a:latin typeface="Calibri"/>
              </a:rPr>
              <a:t>targets shown are the evaluation acceptance criteria; exact figures come from evaluate.py on the demo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F5A623"/>
                </a:solidFill>
                <a:latin typeface="Calibri"/>
              </a:rPr>
              <a:t>06 ·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Novelty &amp; Key Contributions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002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16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600200"/>
            <a:ext cx="128016" cy="17830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8013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🧩   Hardware-free, multimodal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313432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DDE8"/>
                </a:solidFill>
                <a:latin typeface="Calibri"/>
              </a:rPr>
              <a:t>Air-writing + voice + live OCR in ONE webcam-only app — no glove, marker, stylus or touch surface.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16002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16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37960" y="1600200"/>
            <a:ext cx="128016" cy="17830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18013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🔬   Classical CV + modern OCR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313432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DDE8"/>
                </a:solidFill>
                <a:latin typeface="Calibri"/>
              </a:rPr>
              <a:t>A togglable, interpretable pre-processing pipeline feeding a vision-LLM — best of classical and deep methods.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16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3657600"/>
            <a:ext cx="128016" cy="1783080"/>
          </a:xfrm>
          <a:prstGeom prst="round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8587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📏   Built-in objective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370832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DDE8"/>
                </a:solidFill>
                <a:latin typeface="Calibri"/>
              </a:rPr>
              <a:t>Self-contained CER/WER + latency harness with an A/B (with vs. without pre-processing) study — rare in student demos.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3657600"/>
            <a:ext cx="5257800" cy="1783080"/>
          </a:xfrm>
          <a:prstGeom prst="roundRect">
            <a:avLst>
              <a:gd name="adj" fmla="val 6000"/>
            </a:avLst>
          </a:prstGeom>
          <a:solidFill>
            <a:srgbClr val="1629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537960" y="3657600"/>
            <a:ext cx="128016" cy="1783080"/>
          </a:xfrm>
          <a:prstGeom prst="round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858768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⚡   Real-time on commodity CPU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4370832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CFDDE8"/>
                </a:solidFill>
                <a:latin typeface="Calibri"/>
              </a:rPr>
              <a:t>Gesture logic + rendering run live without a GPU; OCR/voice run off the UI thread so it never freezes.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26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A623"/>
                </a:solidFill>
                <a:latin typeface="Calibri"/>
              </a:rPr>
              <a:t>In one line:  </a:t>
            </a:r>
            <a:r>
              <a:rPr sz="1400" b="0" i="0">
                <a:solidFill>
                  <a:srgbClr val="FFFFFF"/>
                </a:solidFill>
                <a:latin typeface="Calibri"/>
              </a:rPr>
              <a:t>a webcam becomes a touchless smart-notebook that you can write, speak and read back from.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310896"/>
            <a:ext cx="109728" cy="603504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9601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14B8A6"/>
                </a:solidFill>
                <a:latin typeface="Calibri"/>
              </a:rPr>
              <a:t>07 · 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30352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FFFFFF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7" name="Oval 6"/>
          <p:cNvSpPr/>
          <p:nvPr/>
        </p:nvSpPr>
        <p:spPr>
          <a:xfrm>
            <a:off x="11384280" y="420624"/>
            <a:ext cx="384048" cy="384048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5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645920"/>
            <a:ext cx="5212080" cy="4480560"/>
          </a:xfrm>
          <a:prstGeom prst="roundRect">
            <a:avLst>
              <a:gd name="adj" fmla="val 4000"/>
            </a:avLst>
          </a:prstGeom>
          <a:solidFill>
            <a:srgbClr val="F4F7F9"/>
          </a:solidFill>
          <a:ln w="12700">
            <a:solidFill>
              <a:srgbClr val="D7DF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920240"/>
            <a:ext cx="640080" cy="914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21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0F1B2A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697480"/>
            <a:ext cx="4754880" cy="4572000"/>
          </a:xfrm>
          <a:prstGeom prst="rect">
            <a:avLst/>
          </a:prstGeom>
          <a:noFill/>
        </p:spPr>
        <p:txBody>
          <a:bodyPr wrap="square" lIns="0" rIns="0" tIns="0">
            <a:spAutoFit/>
          </a:bodyPr>
          <a:lstStyle/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 b="1">
                <a:solidFill>
                  <a:srgbClr val="0F1B2A"/>
                </a:solidFill>
                <a:latin typeface="Calibri"/>
              </a:rPr>
              <a:t>Delivered: </a:t>
            </a:r>
            <a:r>
              <a:rPr sz="1350">
                <a:solidFill>
                  <a:srgbClr val="3C4A5A"/>
                </a:solidFill>
                <a:latin typeface="Calibri"/>
              </a:rPr>
              <a:t>a working touchless writing system using only a webcam.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 b="1">
                <a:solidFill>
                  <a:srgbClr val="0F1B2A"/>
                </a:solidFill>
                <a:latin typeface="Calibri"/>
              </a:rPr>
              <a:t>CV core: </a:t>
            </a:r>
            <a:r>
              <a:rPr sz="1350">
                <a:solidFill>
                  <a:srgbClr val="3C4A5A"/>
                </a:solidFill>
                <a:latin typeface="Calibri"/>
              </a:rPr>
              <a:t>MediaPipe tracking + classical pre-processing pipeline.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 b="1">
                <a:solidFill>
                  <a:srgbClr val="0F1B2A"/>
                </a:solidFill>
                <a:latin typeface="Calibri"/>
              </a:rPr>
              <a:t>Digitisation: </a:t>
            </a:r>
            <a:r>
              <a:rPr sz="1350">
                <a:solidFill>
                  <a:srgbClr val="3C4A5A"/>
                </a:solidFill>
                <a:latin typeface="Calibri"/>
              </a:rPr>
              <a:t>handwriting and speech converted to editable text.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 b="1">
                <a:solidFill>
                  <a:srgbClr val="0F1B2A"/>
                </a:solidFill>
                <a:latin typeface="Calibri"/>
              </a:rPr>
              <a:t>Validated: </a:t>
            </a:r>
            <a:r>
              <a:rPr sz="1350">
                <a:solidFill>
                  <a:srgbClr val="3C4A5A"/>
                </a:solidFill>
                <a:latin typeface="Calibri"/>
              </a:rPr>
              <a:t>OCR accuracy &amp; latency measured objectively (CER/WER).</a:t>
            </a:r>
          </a:p>
          <a:p>
            <a:pPr>
              <a:lnSpc>
                <a:spcPct val="105000"/>
              </a:lnSpc>
              <a:spcAft>
                <a:spcPts val="1100"/>
              </a:spcAft>
            </a:pPr>
            <a:r>
              <a:rPr sz="1350" b="1">
                <a:solidFill>
                  <a:srgbClr val="14B8A6"/>
                </a:solidFill>
                <a:latin typeface="Calibri"/>
              </a:rPr>
              <a:t>▸  </a:t>
            </a:r>
            <a:r>
              <a:rPr sz="1350" b="1">
                <a:solidFill>
                  <a:srgbClr val="0F1B2A"/>
                </a:solidFill>
                <a:latin typeface="Calibri"/>
              </a:rPr>
              <a:t>Impact: </a:t>
            </a:r>
            <a:r>
              <a:rPr sz="1350">
                <a:solidFill>
                  <a:srgbClr val="3C4A5A"/>
                </a:solidFill>
                <a:latin typeface="Calibri"/>
              </a:rPr>
              <a:t>hygienic, low-cost, accessible, intuitive input.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645920"/>
            <a:ext cx="5120640" cy="4480560"/>
          </a:xfrm>
          <a:prstGeom prst="roundRect">
            <a:avLst>
              <a:gd name="adj" fmla="val 4000"/>
            </a:avLst>
          </a:prstGeom>
          <a:solidFill>
            <a:srgbClr val="0F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37960" y="1920240"/>
            <a:ext cx="640080" cy="9144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212140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FFFFFF"/>
                </a:solidFill>
                <a:latin typeface="Calibri"/>
              </a:rPr>
              <a:t>Future Work</a:t>
            </a:r>
          </a:p>
        </p:txBody>
      </p:sp>
      <p:sp>
        <p:nvSpPr>
          <p:cNvPr id="15" name="Oval 14"/>
          <p:cNvSpPr/>
          <p:nvPr/>
        </p:nvSpPr>
        <p:spPr>
          <a:xfrm>
            <a:off x="6537960" y="2770632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697480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FDDE8"/>
                </a:solidFill>
                <a:latin typeface="Calibri"/>
              </a:rPr>
              <a:t>On-device / offline OCR (HTR model) to drop the network dependency</a:t>
            </a:r>
          </a:p>
        </p:txBody>
      </p:sp>
      <p:sp>
        <p:nvSpPr>
          <p:cNvPr id="17" name="Oval 16"/>
          <p:cNvSpPr/>
          <p:nvPr/>
        </p:nvSpPr>
        <p:spPr>
          <a:xfrm>
            <a:off x="6537960" y="3429000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3355848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FDDE8"/>
                </a:solidFill>
                <a:latin typeface="Calibri"/>
              </a:rPr>
              <a:t>Two-hand &amp; multi-user support for collaborative whiteboarding</a:t>
            </a:r>
          </a:p>
        </p:txBody>
      </p:sp>
      <p:sp>
        <p:nvSpPr>
          <p:cNvPr id="19" name="Oval 18"/>
          <p:cNvSpPr/>
          <p:nvPr/>
        </p:nvSpPr>
        <p:spPr>
          <a:xfrm>
            <a:off x="6537960" y="4087368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4014216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FDDE8"/>
                </a:solidFill>
                <a:latin typeface="Calibri"/>
              </a:rPr>
              <a:t>Shape &amp; equation recognition (auto-straighten lines, math input)</a:t>
            </a:r>
          </a:p>
        </p:txBody>
      </p:sp>
      <p:sp>
        <p:nvSpPr>
          <p:cNvPr id="21" name="Oval 20"/>
          <p:cNvSpPr/>
          <p:nvPr/>
        </p:nvSpPr>
        <p:spPr>
          <a:xfrm>
            <a:off x="6537960" y="4745736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4672584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FDDE8"/>
                </a:solidFill>
                <a:latin typeface="Calibri"/>
              </a:rPr>
              <a:t>Gesture customisation and an undo / redo history</a:t>
            </a:r>
          </a:p>
        </p:txBody>
      </p:sp>
      <p:sp>
        <p:nvSpPr>
          <p:cNvPr id="23" name="Oval 22"/>
          <p:cNvSpPr/>
          <p:nvPr/>
        </p:nvSpPr>
        <p:spPr>
          <a:xfrm>
            <a:off x="6537960" y="5404104"/>
            <a:ext cx="118872" cy="118872"/>
          </a:xfrm>
          <a:prstGeom prst="ellipse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5330952"/>
            <a:ext cx="4434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CFDDE8"/>
                </a:solidFill>
                <a:latin typeface="Calibri"/>
              </a:rPr>
              <a:t>Export to PDF / searchable notes and cloud sync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503920" y="0"/>
            <a:ext cx="3685032" cy="6858000"/>
          </a:xfrm>
          <a:prstGeom prst="rect">
            <a:avLst/>
          </a:prstGeom>
          <a:solidFill>
            <a:srgbClr val="12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1325880"/>
            <a:ext cx="4206240" cy="4206240"/>
          </a:xfrm>
          <a:prstGeom prst="ellipse">
            <a:avLst/>
          </a:prstGeom>
          <a:solidFill>
            <a:srgbClr val="1730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915400" y="2011680"/>
            <a:ext cx="2834640" cy="2834640"/>
          </a:xfrm>
          <a:prstGeom prst="ellipse">
            <a:avLst/>
          </a:prstGeom>
          <a:solidFill>
            <a:srgbClr val="0D7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89720" y="292608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Q &amp;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011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COMPUTER VISION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7315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6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94760"/>
            <a:ext cx="2194560" cy="4572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C7D3DE"/>
                </a:solidFill>
                <a:latin typeface="Calibri"/>
              </a:rPr>
              <a:t>Touchless Writing System — write in the air, get digital 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4B8A6"/>
                </a:solidFill>
                <a:latin typeface="Calibri"/>
              </a:rPr>
              <a:t>Mohammed Farees Mohammed Rifath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9FB0BF"/>
                </a:solidFill>
                <a:latin typeface="Calibri"/>
              </a:rPr>
              <a:t>Image Processing &amp; Computer Vision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